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55664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10" kern="0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SKILLTRACK  /  HACKATHON 2026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0"/>
            <a:ext cx="4236415" cy="6858000"/>
          </a:xfrm>
          <a:prstGeom prst="rect">
            <a:avLst/>
          </a:prstGeom>
          <a:solidFill>
            <a:srgbClr val="163456"/>
          </a:solidFill>
          <a:ln w="12700">
            <a:solidFill>
              <a:srgbClr val="16345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200000">
            <a:off x="7498080" y="-640080"/>
            <a:ext cx="5303520" cy="5303520"/>
          </a:xfrm>
          <a:prstGeom prst="arc">
            <a:avLst/>
          </a:prstGeom>
          <a:solidFill>
            <a:srgbClr val="163456">
              <a:alpha val="0"/>
            </a:srgbClr>
          </a:solidFill>
          <a:ln w="27940">
            <a:solidFill>
              <a:srgbClr val="14B8A6">
                <a:alpha val="8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200000">
            <a:off x="8503920" y="1188720"/>
            <a:ext cx="4023360" cy="4023360"/>
          </a:xfrm>
          <a:prstGeom prst="arc">
            <a:avLst/>
          </a:prstGeom>
          <a:solidFill>
            <a:srgbClr val="163456">
              <a:alpha val="0"/>
            </a:srgbClr>
          </a:solidFill>
          <a:ln w="19050">
            <a:solidFill>
              <a:srgbClr val="F59E0B">
                <a:alpha val="8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62179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SKILLTRACK  /  HACKATHON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1325880"/>
            <a:ext cx="6766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Skills gap &amp;</a:t>
            </a:r>
            <a:endParaRPr lang="en-US" sz="3100" dirty="0"/>
          </a:p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employment tracking</a:t>
            </a:r>
            <a:endParaRPr lang="en-US" sz="3100" dirty="0"/>
          </a:p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</a:t>
            </a:r>
            <a:endParaRPr lang="en-US" sz="3100" dirty="0"/>
          </a:p>
        </p:txBody>
      </p:sp>
      <p:sp>
        <p:nvSpPr>
          <p:cNvPr id="7" name="Text 5"/>
          <p:cNvSpPr/>
          <p:nvPr/>
        </p:nvSpPr>
        <p:spPr>
          <a:xfrm>
            <a:off x="676656" y="3886200"/>
            <a:ext cx="6217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BFD0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“what can I do?” to “what should I do next?”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58368" y="4617720"/>
            <a:ext cx="3063240" cy="274320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4636008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data-driven career navigation layer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8549640" y="1874520"/>
            <a:ext cx="2697480" cy="192024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796528" y="2121408"/>
            <a:ext cx="1051560" cy="1417320"/>
          </a:xfrm>
          <a:prstGeom prst="roundRect">
            <a:avLst>
              <a:gd name="adj" fmla="val 6957"/>
            </a:avLst>
          </a:prstGeom>
          <a:solidFill>
            <a:srgbClr val="EAF2FF"/>
          </a:solidFill>
          <a:ln w="12700">
            <a:solidFill>
              <a:srgbClr val="EAF2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24544" y="2468880"/>
            <a:ext cx="786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72%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8915400" y="2862072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readiness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10058400" y="2121408"/>
            <a:ext cx="932688" cy="237744"/>
          </a:xfrm>
          <a:prstGeom prst="roundRect">
            <a:avLst>
              <a:gd name="adj" fmla="val 30769"/>
            </a:avLst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058400" y="2487168"/>
            <a:ext cx="658368" cy="237744"/>
          </a:xfrm>
          <a:prstGeom prst="roundRect">
            <a:avLst>
              <a:gd name="adj" fmla="val 30769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058400" y="2852928"/>
            <a:ext cx="804672" cy="237744"/>
          </a:xfrm>
          <a:prstGeom prst="roundRect">
            <a:avLst>
              <a:gd name="adj" fmla="val 30769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796528" y="3675888"/>
            <a:ext cx="2203704" cy="0"/>
          </a:xfrm>
          <a:prstGeom prst="line">
            <a:avLst/>
          </a:prstGeom>
          <a:noFill/>
          <a:ln w="12700">
            <a:solidFill>
              <a:srgbClr val="DCE3EC"/>
            </a:solidFill>
            <a:prstDash val="solid"/>
            <a:headEnd type="none"/>
            <a:tailEnd type="none"/>
          </a:ln>
        </p:spPr>
      </p:sp>
      <p:sp>
        <p:nvSpPr>
          <p:cNvPr id="18" name="Text 16"/>
          <p:cNvSpPr/>
          <p:nvPr/>
        </p:nvSpPr>
        <p:spPr>
          <a:xfrm>
            <a:off x="8549640" y="4005072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D8E5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Skills mapped  •  jobs matched  •  progress tracked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384280" y="623620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8404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80" kern="0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/ THE PROBLEM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21792" y="65836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broken career pipeline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People do not fail for lack of ambition. They stall because the path between learning and earning is fragmented.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58368" y="1920240"/>
            <a:ext cx="333756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176272"/>
            <a:ext cx="411480" cy="411480"/>
          </a:xfrm>
          <a:prstGeom prst="ellipse">
            <a:avLst/>
          </a:prstGeom>
          <a:solidFill>
            <a:srgbClr val="D9534F"/>
          </a:solidFill>
          <a:ln w="12700">
            <a:solidFill>
              <a:srgbClr val="D9534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26771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14400" y="2761488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Skills are invisible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3182112"/>
            <a:ext cx="2761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Learners collect certificates, but cannot see which skills employers actually value.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462272" y="1920240"/>
            <a:ext cx="333756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18304" y="2176272"/>
            <a:ext cx="411480" cy="4114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18304" y="226771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718304" y="2761488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Jobs are noisy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718304" y="3182112"/>
            <a:ext cx="2761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Listings speak in jargon. Candidates cannot tell whether they are close, ready, or wasting time.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266176" y="1920240"/>
            <a:ext cx="333756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522208" y="2176272"/>
            <a:ext cx="411480" cy="4114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22208" y="226771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522208" y="2761488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Progress is unmeasured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522208" y="3182112"/>
            <a:ext cx="2761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Applications, interviews, and feedback live in separate tools with no learning loop.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58368" y="440740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COST OF DISCONNECTION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58368" y="4736592"/>
            <a:ext cx="251460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8368" y="4736592"/>
            <a:ext cx="54864" cy="841248"/>
          </a:xfrm>
          <a:prstGeom prst="roundRect">
            <a:avLst/>
          </a:prstGeom>
          <a:solidFill>
            <a:srgbClr val="D9534F"/>
          </a:solidFill>
          <a:ln w="12700">
            <a:solidFill>
              <a:srgbClr val="D9534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9536" y="4855464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3.2×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859536" y="5221224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more likely to abandon a search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364992" y="4736592"/>
            <a:ext cx="251460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364992" y="4736592"/>
            <a:ext cx="54864" cy="841248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4855464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47%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3566160" y="5221224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 applications lack feedback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071616" y="4736592"/>
            <a:ext cx="251460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71616" y="4736592"/>
            <a:ext cx="54864" cy="841248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72784" y="4855464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 → 1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6272784" y="5221224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career decisions without evidence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8823960" y="4736592"/>
            <a:ext cx="2697480" cy="841248"/>
          </a:xfrm>
          <a:prstGeom prst="roundRect">
            <a:avLst>
              <a:gd name="adj" fmla="val 10870"/>
            </a:avLst>
          </a:prstGeom>
          <a:solidFill>
            <a:srgbClr val="0B1F3A"/>
          </a:solidFill>
          <a:ln w="12700">
            <a:solidFill>
              <a:srgbClr val="0B1F3A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079992" y="4882896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gap is not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just skill. It is signal.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8404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80" kern="0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/ THE SOLUTION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21792" y="65836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operating system for career momentum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SkillTrack turns scattered career signals into one visible, actionable loop.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504688" y="2249424"/>
            <a:ext cx="1188720" cy="1188720"/>
          </a:xfrm>
          <a:prstGeom prst="roundRect">
            <a:avLst>
              <a:gd name="adj" fmla="val 13846"/>
            </a:avLst>
          </a:prstGeom>
          <a:solidFill>
            <a:srgbClr val="0B1F3A"/>
          </a:solidFill>
          <a:ln w="12700">
            <a:solidFill>
              <a:srgbClr val="0B1F3A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504688" y="2523744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SKILL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143000" y="2331720"/>
            <a:ext cx="242316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53312" y="2560320"/>
            <a:ext cx="347472" cy="34747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47088" y="251460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Profile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847088" y="2770632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 current skills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143000" y="4251960"/>
            <a:ext cx="242316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353312" y="4480560"/>
            <a:ext cx="347472" cy="34747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47088" y="443484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Gap scan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847088" y="4690872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 what is missing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9098280" y="2331720"/>
            <a:ext cx="242316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308592" y="2560320"/>
            <a:ext cx="347472" cy="3474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802368" y="251460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Match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802368" y="2770632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Rank real-fit jobs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9098280" y="4251960"/>
            <a:ext cx="242316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308592" y="4480560"/>
            <a:ext cx="347472" cy="34747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802368" y="443484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802368" y="4690872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 from outcomes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66160" y="2743200"/>
            <a:ext cx="1938528" cy="0"/>
          </a:xfrm>
          <a:prstGeom prst="line">
            <a:avLst/>
          </a:prstGeom>
          <a:noFill/>
          <a:ln w="19050">
            <a:solidFill>
              <a:srgbClr val="DCE3EC"/>
            </a:solidFill>
            <a:prstDash val="solid"/>
            <a:headEnd type="none"/>
            <a:tailEnd type="none"/>
          </a:ln>
        </p:spPr>
      </p:sp>
      <p:sp>
        <p:nvSpPr>
          <p:cNvPr id="24" name="Shape 22"/>
          <p:cNvSpPr/>
          <p:nvPr/>
        </p:nvSpPr>
        <p:spPr>
          <a:xfrm>
            <a:off x="6693408" y="2743200"/>
            <a:ext cx="2404872" cy="0"/>
          </a:xfrm>
          <a:prstGeom prst="line">
            <a:avLst/>
          </a:prstGeom>
          <a:noFill/>
          <a:ln w="19050">
            <a:solidFill>
              <a:srgbClr val="DCE3EC"/>
            </a:solidFill>
            <a:prstDash val="solid"/>
            <a:headEnd type="none"/>
            <a:tailEnd type="none"/>
          </a:ln>
        </p:spPr>
      </p:sp>
      <p:sp>
        <p:nvSpPr>
          <p:cNvPr id="25" name="Shape 23"/>
          <p:cNvSpPr/>
          <p:nvPr/>
        </p:nvSpPr>
        <p:spPr>
          <a:xfrm>
            <a:off x="3566160" y="4663440"/>
            <a:ext cx="1938528" cy="-1325880"/>
          </a:xfrm>
          <a:prstGeom prst="line">
            <a:avLst/>
          </a:prstGeom>
          <a:noFill/>
          <a:ln w="19050">
            <a:solidFill>
              <a:srgbClr val="DCE3EC"/>
            </a:solidFill>
            <a:prstDash val="solid"/>
            <a:headEnd type="none"/>
            <a:tailEnd type="none"/>
          </a:ln>
        </p:spPr>
      </p:sp>
      <p:sp>
        <p:nvSpPr>
          <p:cNvPr id="26" name="Shape 24"/>
          <p:cNvSpPr/>
          <p:nvPr/>
        </p:nvSpPr>
        <p:spPr>
          <a:xfrm>
            <a:off x="6693408" y="3337560"/>
            <a:ext cx="2404872" cy="1325880"/>
          </a:xfrm>
          <a:prstGeom prst="line">
            <a:avLst/>
          </a:prstGeom>
          <a:noFill/>
          <a:ln w="19050">
            <a:solidFill>
              <a:srgbClr val="DCE3EC"/>
            </a:solidFill>
            <a:prstDash val="solid"/>
            <a:headEnd type="none"/>
            <a:tailEnd type="none"/>
          </a:ln>
        </p:spPr>
      </p:sp>
      <p:sp>
        <p:nvSpPr>
          <p:cNvPr id="27" name="Text 25"/>
          <p:cNvSpPr/>
          <p:nvPr/>
        </p:nvSpPr>
        <p:spPr>
          <a:xfrm>
            <a:off x="2423160" y="57150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closed loop: every application improves the next decision.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8404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80" kern="0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/ HOW IT WORKS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21792" y="65836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profile to placement in four moves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experience is designed around the next best action, not another dashboard to babysit.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1325880" y="2788920"/>
            <a:ext cx="9509760" cy="0"/>
          </a:xfrm>
          <a:prstGeom prst="line">
            <a:avLst/>
          </a:prstGeom>
          <a:noFill/>
          <a:ln w="25400">
            <a:solidFill>
              <a:srgbClr val="DCE3EC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914400" y="2596896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3544" y="2651760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3081528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Capture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" y="37490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Skills, projects, preferences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749040" y="2596896"/>
            <a:ext cx="384048" cy="38404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58184" y="2651760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74720" y="3081528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Diagnose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429000" y="37490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against target roles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583680" y="2596896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92824" y="2651760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309360" y="3081528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263640" y="37490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Practice the highest-value gap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9418320" y="2596896"/>
            <a:ext cx="384048" cy="384048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427464" y="2651760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144000" y="3081528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9098280" y="37490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 outcomes and recalibrate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005840" y="4800600"/>
            <a:ext cx="1014984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280160" y="4983480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10" kern="0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product promise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971800" y="4919472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the next career move easier to see, easier to do, and easier to measure.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8404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80" kern="0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/ PRODUCT VIEW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21792" y="65836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dashboard built for decisions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number answers a question: Am I ready? What should I improve? Where should I apply?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58368" y="1783080"/>
            <a:ext cx="10881360" cy="4224528"/>
          </a:xfrm>
          <a:prstGeom prst="roundRect">
            <a:avLst>
              <a:gd name="adj" fmla="val 2597"/>
            </a:avLst>
          </a:prstGeom>
          <a:solidFill>
            <a:srgbClr val="0B1F3A"/>
          </a:solidFill>
          <a:ln w="12700">
            <a:solidFill>
              <a:srgbClr val="0B1F3A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783080"/>
            <a:ext cx="1874520" cy="4224528"/>
          </a:xfrm>
          <a:prstGeom prst="roundRect">
            <a:avLst>
              <a:gd name="adj" fmla="val 5854"/>
            </a:avLst>
          </a:prstGeom>
          <a:solidFill>
            <a:srgbClr val="10294A"/>
          </a:solidFill>
          <a:ln w="12700">
            <a:solidFill>
              <a:srgbClr val="10294A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210312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spc="11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SKILLTRACK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50392" y="2697480"/>
            <a:ext cx="1490472" cy="347472"/>
          </a:xfrm>
          <a:prstGeom prst="roundRect">
            <a:avLst>
              <a:gd name="adj" fmla="val 21053"/>
            </a:avLst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2788920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Overview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051560" y="3319272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BFD0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Skill gap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051560" y="3849624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BFD0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Job matches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051560" y="4379976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BFD0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Applications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932688" y="525780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Jordan Lee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932688" y="5504688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BFD0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design track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532888" y="1783080"/>
            <a:ext cx="9006840" cy="4224528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F6F8FB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852928" y="205740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Good morning, Jordan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852928" y="239572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Your next best move is ready.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852928" y="2816352"/>
            <a:ext cx="205740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52928" y="2816352"/>
            <a:ext cx="54864" cy="841248"/>
          </a:xfrm>
          <a:prstGeom prst="roundRect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54096" y="2935224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72%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054096" y="3300984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career readiness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074920" y="2816352"/>
            <a:ext cx="205740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74920" y="2816352"/>
            <a:ext cx="54864" cy="841248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76088" y="2935224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5276088" y="3300984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 roles mapped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7296912" y="2816352"/>
            <a:ext cx="205740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296912" y="2816352"/>
            <a:ext cx="54864" cy="841248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98080" y="2935224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7498080" y="3300984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applications in motion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9518904" y="2816352"/>
            <a:ext cx="1645920" cy="841248"/>
          </a:xfrm>
          <a:prstGeom prst="roundRect">
            <a:avLst>
              <a:gd name="adj" fmla="val 10870"/>
            </a:avLst>
          </a:prstGeom>
          <a:solidFill>
            <a:srgbClr val="0B1F3A"/>
          </a:solidFill>
          <a:ln w="12700">
            <a:solidFill>
              <a:srgbClr val="0B1F3A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683496" y="301752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VIEW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RECOMMENDATIONS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852928" y="3977640"/>
            <a:ext cx="3977640" cy="1444752"/>
          </a:xfrm>
          <a:prstGeom prst="roundRect">
            <a:avLst>
              <a:gd name="adj" fmla="val 6329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090672" y="422452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Readiness by skill cluster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090672" y="4572000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sense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251960" y="4608576"/>
            <a:ext cx="2057400" cy="100584"/>
          </a:xfrm>
          <a:prstGeom prst="roundRect">
            <a:avLst>
              <a:gd name="adj" fmla="val 45455"/>
            </a:avLst>
          </a:prstGeom>
          <a:solidFill>
            <a:srgbClr val="E7EDF4"/>
          </a:solidFill>
          <a:ln w="12700">
            <a:solidFill>
              <a:srgbClr val="E7EDF4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251960" y="4608576"/>
            <a:ext cx="1769364" cy="100584"/>
          </a:xfrm>
          <a:prstGeom prst="roundRect">
            <a:avLst>
              <a:gd name="adj" fmla="val 45455"/>
            </a:avLst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090672" y="4809744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Analytics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251960" y="4846320"/>
            <a:ext cx="2057400" cy="100584"/>
          </a:xfrm>
          <a:prstGeom prst="roundRect">
            <a:avLst>
              <a:gd name="adj" fmla="val 45455"/>
            </a:avLst>
          </a:prstGeom>
          <a:solidFill>
            <a:srgbClr val="E7EDF4"/>
          </a:solidFill>
          <a:ln w="12700">
            <a:solidFill>
              <a:srgbClr val="E7EDF4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251960" y="4846320"/>
            <a:ext cx="1296162" cy="100584"/>
          </a:xfrm>
          <a:prstGeom prst="roundRect">
            <a:avLst>
              <a:gd name="adj" fmla="val 45455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090672" y="5047488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Communication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4251960" y="5084064"/>
            <a:ext cx="2057400" cy="100584"/>
          </a:xfrm>
          <a:prstGeom prst="roundRect">
            <a:avLst>
              <a:gd name="adj" fmla="val 45455"/>
            </a:avLst>
          </a:prstGeom>
          <a:solidFill>
            <a:srgbClr val="E7EDF4"/>
          </a:solidFill>
          <a:ln w="12700">
            <a:solidFill>
              <a:srgbClr val="E7EDF4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251960" y="5084064"/>
            <a:ext cx="1604772" cy="100584"/>
          </a:xfrm>
          <a:prstGeom prst="roundRect">
            <a:avLst>
              <a:gd name="adj" fmla="val 45455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059168" y="3977640"/>
            <a:ext cx="4105656" cy="1444752"/>
          </a:xfrm>
          <a:prstGeom prst="roundRect">
            <a:avLst>
              <a:gd name="adj" fmla="val 6329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296912" y="422452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best action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296912" y="4590288"/>
            <a:ext cx="3154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one analytics case study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7296912" y="4864608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Closes the largest gap for 3 target roles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296912" y="5102352"/>
            <a:ext cx="1325880" cy="274320"/>
          </a:xfrm>
          <a:prstGeom prst="roundRect">
            <a:avLst>
              <a:gd name="adj" fmla="val 50000"/>
            </a:avLst>
          </a:prstGeom>
          <a:solidFill>
            <a:srgbClr val="D9F6F1"/>
          </a:solidFill>
          <a:ln w="12700">
            <a:solidFill>
              <a:srgbClr val="D9F6F1">
                <a:alpha val="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296912" y="5120640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PLAN  →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8404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80" kern="0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/ INTELLIGENCE LAYER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21792" y="65836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Turn a vague gap into a focused plan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Skill gap analysis is only useful when it ends with a concrete sequence of action.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58368" y="1828800"/>
            <a:ext cx="4617720" cy="3977640"/>
          </a:xfrm>
          <a:prstGeom prst="roundRect">
            <a:avLst>
              <a:gd name="adj" fmla="val 3218"/>
            </a:avLst>
          </a:prstGeom>
          <a:solidFill>
            <a:srgbClr val="0B1F3A"/>
          </a:solidFill>
          <a:ln w="12700">
            <a:solidFill>
              <a:srgbClr val="0B1F3A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2176272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40" kern="0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 ROLE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987552" y="245059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analyst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87552" y="315468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BFD0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Readiness score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87552" y="33832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72%</a:t>
            </a:r>
            <a:endParaRPr lang="en-US" sz="3600" dirty="0"/>
          </a:p>
        </p:txBody>
      </p:sp>
      <p:sp>
        <p:nvSpPr>
          <p:cNvPr id="10" name="Shape 8"/>
          <p:cNvSpPr/>
          <p:nvPr/>
        </p:nvSpPr>
        <p:spPr>
          <a:xfrm>
            <a:off x="987552" y="4069080"/>
            <a:ext cx="3639312" cy="100584"/>
          </a:xfrm>
          <a:prstGeom prst="roundRect">
            <a:avLst>
              <a:gd name="adj" fmla="val 45455"/>
            </a:avLst>
          </a:prstGeom>
          <a:solidFill>
            <a:srgbClr val="E7EDF4"/>
          </a:solidFill>
          <a:ln w="12700">
            <a:solidFill>
              <a:srgbClr val="E7EDF4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87552" y="4069080"/>
            <a:ext cx="2620305" cy="100584"/>
          </a:xfrm>
          <a:prstGeom prst="roundRect">
            <a:avLst>
              <a:gd name="adj" fmla="val 45455"/>
            </a:avLst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87552" y="443484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D8E5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skills mapped  •  3 priority actions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87552" y="4992624"/>
            <a:ext cx="1572768" cy="27432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87552" y="5010912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MY PLAN  →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897880" y="208483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40" kern="0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PRIORITY GAP MAP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897880" y="2487168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 / analytics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897880" y="2715768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D953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 impact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8321040" y="2587752"/>
            <a:ext cx="2148840" cy="100584"/>
          </a:xfrm>
          <a:prstGeom prst="roundRect">
            <a:avLst>
              <a:gd name="adj" fmla="val 45455"/>
            </a:avLst>
          </a:prstGeom>
          <a:solidFill>
            <a:srgbClr val="E7EDF4"/>
          </a:solidFill>
          <a:ln w="12700">
            <a:solidFill>
              <a:srgbClr val="E7EDF4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21040" y="2587752"/>
            <a:ext cx="666140" cy="100584"/>
          </a:xfrm>
          <a:prstGeom prst="roundRect">
            <a:avLst>
              <a:gd name="adj" fmla="val 45455"/>
            </a:avLst>
          </a:prstGeom>
          <a:solidFill>
            <a:srgbClr val="D9534F"/>
          </a:solidFill>
          <a:ln w="12700">
            <a:solidFill>
              <a:srgbClr val="D9534F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625328" y="2505456"/>
            <a:ext cx="731520" cy="274320"/>
          </a:xfrm>
          <a:prstGeom prst="roundRect">
            <a:avLst>
              <a:gd name="adj" fmla="val 50000"/>
            </a:avLst>
          </a:prstGeom>
          <a:solidFill>
            <a:srgbClr val="FDE9E7"/>
          </a:solidFill>
          <a:ln w="12700">
            <a:solidFill>
              <a:srgbClr val="FDE9E7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625328" y="2523744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953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NEXT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897880" y="3163824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Experiment design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897880" y="3392424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Medium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8321040" y="3264408"/>
            <a:ext cx="2148840" cy="100584"/>
          </a:xfrm>
          <a:prstGeom prst="roundRect">
            <a:avLst>
              <a:gd name="adj" fmla="val 45455"/>
            </a:avLst>
          </a:prstGeom>
          <a:solidFill>
            <a:srgbClr val="E7EDF4"/>
          </a:solidFill>
          <a:ln w="12700">
            <a:solidFill>
              <a:srgbClr val="E7EDF4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321040" y="3264408"/>
            <a:ext cx="1181862" cy="100584"/>
          </a:xfrm>
          <a:prstGeom prst="roundRect">
            <a:avLst>
              <a:gd name="adj" fmla="val 45455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625328" y="3182112"/>
            <a:ext cx="594360" cy="274320"/>
          </a:xfrm>
          <a:prstGeom prst="roundRect">
            <a:avLst>
              <a:gd name="adj" fmla="val 50000"/>
            </a:avLst>
          </a:prstGeom>
          <a:solidFill>
            <a:srgbClr val="FFF3D6"/>
          </a:solidFill>
          <a:ln w="12700">
            <a:solidFill>
              <a:srgbClr val="FFF3D6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625328" y="3200400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VIEW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897880" y="3840480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Stakeholder storytelling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897880" y="4069080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 track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8321040" y="3941064"/>
            <a:ext cx="2148840" cy="100584"/>
          </a:xfrm>
          <a:prstGeom prst="roundRect">
            <a:avLst>
              <a:gd name="adj" fmla="val 45455"/>
            </a:avLst>
          </a:prstGeom>
          <a:solidFill>
            <a:srgbClr val="E7EDF4"/>
          </a:solidFill>
          <a:ln w="12700">
            <a:solidFill>
              <a:srgbClr val="E7EDF4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321040" y="3941064"/>
            <a:ext cx="1676095" cy="100584"/>
          </a:xfrm>
          <a:prstGeom prst="roundRect">
            <a:avLst>
              <a:gd name="adj" fmla="val 45455"/>
            </a:avLst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625328" y="3858768"/>
            <a:ext cx="594360" cy="274320"/>
          </a:xfrm>
          <a:prstGeom prst="roundRect">
            <a:avLst>
              <a:gd name="adj" fmla="val 50000"/>
            </a:avLst>
          </a:prstGeom>
          <a:solidFill>
            <a:srgbClr val="D9F6F1"/>
          </a:solidFill>
          <a:ln w="12700">
            <a:solidFill>
              <a:srgbClr val="D9F6F1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625328" y="3877056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VIEW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897880" y="4517136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sense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897880" y="4745736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8321040" y="4617720"/>
            <a:ext cx="2148840" cy="100584"/>
          </a:xfrm>
          <a:prstGeom prst="roundRect">
            <a:avLst>
              <a:gd name="adj" fmla="val 45455"/>
            </a:avLst>
          </a:prstGeom>
          <a:solidFill>
            <a:srgbClr val="E7EDF4"/>
          </a:solidFill>
          <a:ln w="12700">
            <a:solidFill>
              <a:srgbClr val="E7EDF4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321040" y="4617720"/>
            <a:ext cx="1955444" cy="100584"/>
          </a:xfrm>
          <a:prstGeom prst="roundRect">
            <a:avLst>
              <a:gd name="adj" fmla="val 45455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625328" y="4535424"/>
            <a:ext cx="594360" cy="274320"/>
          </a:xfrm>
          <a:prstGeom prst="roundRect">
            <a:avLst>
              <a:gd name="adj" fmla="val 50000"/>
            </a:avLst>
          </a:prstGeom>
          <a:solidFill>
            <a:srgbClr val="E9F0FF"/>
          </a:solidFill>
          <a:ln w="12700">
            <a:solidFill>
              <a:srgbClr val="E9F0FF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625328" y="4553712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VIEW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5897880" y="5422392"/>
            <a:ext cx="5303520" cy="0"/>
          </a:xfrm>
          <a:prstGeom prst="line">
            <a:avLst/>
          </a:prstGeom>
          <a:noFill/>
          <a:ln w="12700">
            <a:solidFill>
              <a:srgbClr val="DCE3EC"/>
            </a:solidFill>
            <a:prstDash val="solid"/>
            <a:headEnd type="none"/>
            <a:tailEnd type="none"/>
          </a:ln>
        </p:spPr>
      </p:sp>
      <p:sp>
        <p:nvSpPr>
          <p:cNvPr id="41" name="Text 39"/>
          <p:cNvSpPr/>
          <p:nvPr/>
        </p:nvSpPr>
        <p:spPr>
          <a:xfrm>
            <a:off x="5897880" y="559612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insight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995160" y="555955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gap is a prioritization problem before it is a learning problem.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8404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80" kern="0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/ OUTCOME LAYER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21792" y="65836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Close the loop with employment tracking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lightweight pipeline makes progress visible and gives the system feedback it can learn from.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58368" y="1938528"/>
            <a:ext cx="2487168" cy="3182112"/>
          </a:xfrm>
          <a:prstGeom prst="roundRect">
            <a:avLst>
              <a:gd name="adj" fmla="val 3676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938528"/>
            <a:ext cx="2487168" cy="502920"/>
          </a:xfrm>
          <a:prstGeom prst="roundRect">
            <a:avLst>
              <a:gd name="adj" fmla="val 18182"/>
            </a:avLst>
          </a:prstGeom>
          <a:solidFill>
            <a:srgbClr val="E8EDF3"/>
          </a:solidFill>
          <a:ln w="12700">
            <a:solidFill>
              <a:srgbClr val="E8EDF3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9536" y="210312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Wishlist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468880" y="2029968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822960" y="2724912"/>
            <a:ext cx="2157984" cy="393192"/>
          </a:xfrm>
          <a:prstGeom prst="roundRect">
            <a:avLst>
              <a:gd name="adj" fmla="val 16279"/>
            </a:avLst>
          </a:prstGeom>
          <a:solidFill>
            <a:srgbClr val="F8FAFC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50976" y="2834640"/>
            <a:ext cx="18653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72B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Acme / Analyst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822960" y="3273552"/>
            <a:ext cx="2157984" cy="393192"/>
          </a:xfrm>
          <a:prstGeom prst="roundRect">
            <a:avLst>
              <a:gd name="adj" fmla="val 16279"/>
            </a:avLst>
          </a:prstGeom>
          <a:solidFill>
            <a:srgbClr val="F8FAFC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0976" y="3383280"/>
            <a:ext cx="18653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72B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Miro / APM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822960" y="3822192"/>
            <a:ext cx="2157984" cy="393192"/>
          </a:xfrm>
          <a:prstGeom prst="roundRect">
            <a:avLst>
              <a:gd name="adj" fmla="val 16279"/>
            </a:avLst>
          </a:prstGeom>
          <a:solidFill>
            <a:srgbClr val="F8FAFC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0976" y="3931920"/>
            <a:ext cx="18653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72B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Northstar / PM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841248" y="4800600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Drag to update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474720" y="1938528"/>
            <a:ext cx="2487168" cy="3182112"/>
          </a:xfrm>
          <a:prstGeom prst="roundRect">
            <a:avLst>
              <a:gd name="adj" fmla="val 3676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74720" y="1938528"/>
            <a:ext cx="2487168" cy="502920"/>
          </a:xfrm>
          <a:prstGeom prst="roundRect">
            <a:avLst>
              <a:gd name="adj" fmla="val 18182"/>
            </a:avLst>
          </a:prstGeom>
          <a:solidFill>
            <a:srgbClr val="E9F0FF"/>
          </a:solidFill>
          <a:ln w="12700">
            <a:solidFill>
              <a:srgbClr val="E9F0F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75888" y="210312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285232" y="2029968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3639312" y="2724912"/>
            <a:ext cx="2157984" cy="393192"/>
          </a:xfrm>
          <a:prstGeom prst="roundRect">
            <a:avLst>
              <a:gd name="adj" fmla="val 16279"/>
            </a:avLst>
          </a:prstGeom>
          <a:solidFill>
            <a:srgbClr val="F8FAFC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67328" y="2834640"/>
            <a:ext cx="18653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72B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Bright / Product analyst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39312" y="3273552"/>
            <a:ext cx="2157984" cy="393192"/>
          </a:xfrm>
          <a:prstGeom prst="roundRect">
            <a:avLst>
              <a:gd name="adj" fmla="val 16279"/>
            </a:avLst>
          </a:prstGeom>
          <a:solidFill>
            <a:srgbClr val="F8FAFC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67328" y="3383280"/>
            <a:ext cx="18653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72B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Lumen / UX researcher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39312" y="3822192"/>
            <a:ext cx="2157984" cy="393192"/>
          </a:xfrm>
          <a:prstGeom prst="roundRect">
            <a:avLst>
              <a:gd name="adj" fmla="val 16279"/>
            </a:avLst>
          </a:prstGeom>
          <a:solidFill>
            <a:srgbClr val="F8FAFC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67328" y="3931920"/>
            <a:ext cx="18653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72B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Civic / Growth analyst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657600" y="4800600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Drag to update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6291072" y="1938528"/>
            <a:ext cx="2487168" cy="3182112"/>
          </a:xfrm>
          <a:prstGeom prst="roundRect">
            <a:avLst>
              <a:gd name="adj" fmla="val 3676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291072" y="1938528"/>
            <a:ext cx="2487168" cy="502920"/>
          </a:xfrm>
          <a:prstGeom prst="roundRect">
            <a:avLst>
              <a:gd name="adj" fmla="val 18182"/>
            </a:avLst>
          </a:prstGeom>
          <a:solidFill>
            <a:srgbClr val="FFF3D6"/>
          </a:solidFill>
          <a:ln w="12700">
            <a:solidFill>
              <a:srgbClr val="FFF3D6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92240" y="210312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Interview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101584" y="2029968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700" dirty="0"/>
          </a:p>
        </p:txBody>
      </p:sp>
      <p:sp>
        <p:nvSpPr>
          <p:cNvPr id="31" name="Shape 29"/>
          <p:cNvSpPr/>
          <p:nvPr/>
        </p:nvSpPr>
        <p:spPr>
          <a:xfrm>
            <a:off x="6455664" y="2724912"/>
            <a:ext cx="2157984" cy="393192"/>
          </a:xfrm>
          <a:prstGeom prst="roundRect">
            <a:avLst>
              <a:gd name="adj" fmla="val 16279"/>
            </a:avLst>
          </a:prstGeom>
          <a:solidFill>
            <a:srgbClr val="F8FAFC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83680" y="2834640"/>
            <a:ext cx="18653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72B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Bright / Round 2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455664" y="3273552"/>
            <a:ext cx="2157984" cy="393192"/>
          </a:xfrm>
          <a:prstGeom prst="roundRect">
            <a:avLst>
              <a:gd name="adj" fmla="val 16279"/>
            </a:avLst>
          </a:prstGeom>
          <a:solidFill>
            <a:srgbClr val="F8FAFC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83680" y="3383280"/>
            <a:ext cx="18653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72B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Civic / Hiring manager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455664" y="3822192"/>
            <a:ext cx="2157984" cy="393192"/>
          </a:xfrm>
          <a:prstGeom prst="roundRect">
            <a:avLst>
              <a:gd name="adj" fmla="val 16279"/>
            </a:avLst>
          </a:prstGeom>
          <a:solidFill>
            <a:srgbClr val="F8FAFC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83680" y="3931920"/>
            <a:ext cx="18653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72B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Lumen / Case study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6473952" y="4800600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Drag to update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9107424" y="1938528"/>
            <a:ext cx="2487168" cy="3182112"/>
          </a:xfrm>
          <a:prstGeom prst="roundRect">
            <a:avLst>
              <a:gd name="adj" fmla="val 3676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107424" y="1938528"/>
            <a:ext cx="2487168" cy="502920"/>
          </a:xfrm>
          <a:prstGeom prst="roundRect">
            <a:avLst>
              <a:gd name="adj" fmla="val 18182"/>
            </a:avLst>
          </a:prstGeom>
          <a:solidFill>
            <a:srgbClr val="D9F6F1"/>
          </a:solidFill>
          <a:ln w="12700">
            <a:solidFill>
              <a:srgbClr val="D9F6F1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308592" y="210312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Offer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10917936" y="2029968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700" dirty="0"/>
          </a:p>
        </p:txBody>
      </p:sp>
      <p:sp>
        <p:nvSpPr>
          <p:cNvPr id="42" name="Shape 40"/>
          <p:cNvSpPr/>
          <p:nvPr/>
        </p:nvSpPr>
        <p:spPr>
          <a:xfrm>
            <a:off x="9272016" y="2724912"/>
            <a:ext cx="2157984" cy="393192"/>
          </a:xfrm>
          <a:prstGeom prst="roundRect">
            <a:avLst>
              <a:gd name="adj" fmla="val 16279"/>
            </a:avLst>
          </a:prstGeom>
          <a:solidFill>
            <a:srgbClr val="D9F6F1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400032" y="2834640"/>
            <a:ext cx="18653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72B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Bright / Product analyst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9290304" y="4800600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Outcome recorded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1143000" y="565099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status change becomes a learning signal: which skills correlate with movement?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8404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80" kern="0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/ WHY IT MATTERS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21792" y="65836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Designed for measurable movement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first release focuses on the moments where clarity creates momentum fastest.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58368" y="182880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EXPECTED IMPACT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58368" y="2148840"/>
            <a:ext cx="246888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2148840"/>
            <a:ext cx="54864" cy="841248"/>
          </a:xfrm>
          <a:prstGeom prst="roundRect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9536" y="226771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+25%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59536" y="263347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more relevant applications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310128" y="2148840"/>
            <a:ext cx="246888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10128" y="2148840"/>
            <a:ext cx="54864" cy="841248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11296" y="226771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-40%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511296" y="263347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 spent searching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61888" y="2148840"/>
            <a:ext cx="246888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61888" y="2148840"/>
            <a:ext cx="54864" cy="841248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63056" y="226771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2×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163056" y="263347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faster feedback loops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8613648" y="2148840"/>
            <a:ext cx="2907792" cy="841248"/>
          </a:xfrm>
          <a:prstGeom prst="roundRect">
            <a:avLst>
              <a:gd name="adj" fmla="val 10870"/>
            </a:avLst>
          </a:prstGeom>
          <a:solidFill>
            <a:srgbClr val="0B1F3A"/>
          </a:solidFill>
          <a:ln w="12700">
            <a:solidFill>
              <a:srgbClr val="0B1F3A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87968" y="228600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Outcome over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activity.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58368" y="356616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ROADMAP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58368" y="3931920"/>
            <a:ext cx="3337560" cy="1234440"/>
          </a:xfrm>
          <a:prstGeom prst="roundRect">
            <a:avLst>
              <a:gd name="adj" fmla="val 7407"/>
            </a:avLst>
          </a:prstGeom>
          <a:solidFill>
            <a:srgbClr val="0B1F3A"/>
          </a:solidFill>
          <a:ln w="12700">
            <a:solidFill>
              <a:srgbClr val="0B1F3A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86968" y="417880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20" kern="0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NOW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86968" y="446227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Personal dashboard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86968" y="4782312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BFD0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Profile, skill gap, job matching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407408" y="3931920"/>
            <a:ext cx="33375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36008" y="417880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20" kern="0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636008" y="446227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Smarter signals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636008" y="4782312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 demand trends, feedback loops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8156448" y="3931920"/>
            <a:ext cx="33375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385048" y="417880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20" kern="0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LATER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385048" y="446227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Ecosystem layer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385048" y="4782312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Institutions, employers, mentors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65836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80" kern="0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 / THE ASK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94944" y="1325880"/>
            <a:ext cx="6217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career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progress visible.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" y="3127248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C5D5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SkillTrack connects the dots between skills, opportunities, and outcomes so every learner can see the next move.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49808" y="4206240"/>
            <a:ext cx="155448" cy="15544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4183380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96696" y="4187952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72B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Prototype is live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49808" y="4590288"/>
            <a:ext cx="155448" cy="15544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4567428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96696" y="4572000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72B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user loop is mapped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49808" y="4974336"/>
            <a:ext cx="155448" cy="15544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4951476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96696" y="4956048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72B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Ready to test with real learners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543800" y="1325880"/>
            <a:ext cx="3429000" cy="3429000"/>
          </a:xfrm>
          <a:prstGeom prst="roundRect">
            <a:avLst>
              <a:gd name="adj" fmla="val 426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55280" y="1755648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BEST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577072" y="2651760"/>
            <a:ext cx="1371600" cy="137160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77072" y="301752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72%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8577072" y="3410712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readiness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001000" y="416052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clear action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beats ten open tabs.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31520" y="59893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THANK YOU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760720" y="5998464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EA7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skills-gap-and-employment-tracking-dashboard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SkillTrack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Skills Gap and Employment Tracking Dashboard</dc:title>
  <dc:subject>Skills Gap and Employment Tracking Dashboard</dc:subject>
  <dc:creator>SkillTrack</dc:creator>
  <cp:lastModifiedBy>SkillTrack</cp:lastModifiedBy>
  <cp:revision>1</cp:revision>
  <dcterms:created xsi:type="dcterms:W3CDTF">2026-09-16T07:19:39Z</dcterms:created>
  <dcterms:modified xsi:type="dcterms:W3CDTF">2026-09-16T07:19:39Z</dcterms:modified>
</cp:coreProperties>
</file>