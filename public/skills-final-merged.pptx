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463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F9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LEVELING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9619488" y="91440"/>
            <a:ext cx="2057400" cy="384048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6DCE4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173736"/>
            <a:ext cx="475488" cy="54864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256032"/>
            <a:ext cx="475488" cy="54864"/>
          </a:xfrm>
          <a:prstGeom prst="rect">
            <a:avLst/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9296" y="128016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INDIA</a:t>
            </a:r>
            <a:endParaRPr lang="en-US" sz="620" dirty="0"/>
          </a:p>
          <a:p>
            <a:pPr indent="0" marL="0">
              <a:buNone/>
            </a:pPr>
            <a:r>
              <a:rPr lang="en-US" sz="62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</a:t>
            </a:r>
            <a:endParaRPr lang="en-US" sz="620" dirty="0"/>
          </a:p>
        </p:txBody>
      </p:sp>
      <p:sp>
        <p:nvSpPr>
          <p:cNvPr id="7" name="Shape 5"/>
          <p:cNvSpPr/>
          <p:nvPr/>
        </p:nvSpPr>
        <p:spPr>
          <a:xfrm>
            <a:off x="0" y="6693408"/>
            <a:ext cx="4063594" cy="16459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63594" y="6693408"/>
            <a:ext cx="4064508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8102" y="6693408"/>
            <a:ext cx="4063594" cy="164592"/>
          </a:xfrm>
          <a:prstGeom prst="rect">
            <a:avLst/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5566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SIH PROTOTYPE  /  SMART INDIA HACKATHON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2179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F9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INDIA HACKATHON  /  SIH PROTOTYPE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scattered signals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one clear career move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94944" y="22128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SkillTrack connects evidence, intelligence and action in one visual loop.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F9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JOURNEY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15568" y="3822192"/>
            <a:ext cx="5788152" cy="0"/>
          </a:xfrm>
          <a:prstGeom prst="line">
            <a:avLst/>
          </a:prstGeom>
          <a:noFill/>
          <a:ln w="25400">
            <a:solidFill>
              <a:srgbClr val="3D6B9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49808" y="3456432"/>
            <a:ext cx="731520" cy="731520"/>
          </a:xfrm>
          <a:prstGeom prst="ellipse">
            <a:avLst/>
          </a:prstGeom>
          <a:solidFill>
            <a:srgbClr val="D8433E"/>
          </a:solidFill>
          <a:ln w="12700">
            <a:solidFill>
              <a:srgbClr val="D8433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7033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44348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" y="4754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57400" y="3675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24328" y="3456432"/>
            <a:ext cx="731520" cy="731520"/>
          </a:xfrm>
          <a:prstGeom prst="ellipse">
            <a:avLst/>
          </a:prstGeom>
          <a:solidFill>
            <a:srgbClr val="0057A8"/>
          </a:solidFill>
          <a:ln w="12700">
            <a:solidFill>
              <a:srgbClr val="0057A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37033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95728" y="44348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SKILLTRACK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95728" y="4754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engine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31920" y="3675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498848" y="3456432"/>
            <a:ext cx="731520" cy="731520"/>
          </a:xfrm>
          <a:prstGeom prst="ellipse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37033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70248" y="44348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70248" y="4754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06440" y="3675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73368" y="3456432"/>
            <a:ext cx="731520" cy="731520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37033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44768" y="44348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44768" y="4754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1232" y="1170432"/>
            <a:ext cx="3794760" cy="4480560"/>
          </a:xfrm>
          <a:prstGeom prst="roundRect">
            <a:avLst>
              <a:gd name="adj" fmla="val 4337"/>
            </a:avLst>
          </a:prstGeom>
          <a:solidFill>
            <a:srgbClr val="0057A8"/>
          </a:solidFill>
          <a:ln w="12700">
            <a:solidFill>
              <a:srgbClr val="0057A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73568" y="16002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40" kern="0" dirty="0">
                <a:solidFill>
                  <a:srgbClr val="FF9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TRANSFORMATION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01000" y="214884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222199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372600" y="222199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+ jobs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0" y="26791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001000" y="2990088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306324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372600" y="306324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+ score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26880" y="35204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001000" y="3831336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390448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372600" y="39044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best action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73568" y="4983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 -&gt;  insight  -&gt;  movement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05840" y="59893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career dashboard that turns uncertainty into a next step.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TECHNICAL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SkillTrack turns data into action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modular architecture connects the user, application logic, data, AI parsing, and skill-gap intelligence.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LAYER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" y="2084832"/>
            <a:ext cx="2084832" cy="841248"/>
          </a:xfrm>
          <a:prstGeom prst="roundRect">
            <a:avLst>
              <a:gd name="adj" fmla="val 10870"/>
            </a:avLst>
          </a:prstGeom>
          <a:solidFill>
            <a:srgbClr val="0057A8"/>
          </a:solidFill>
          <a:ln w="12700">
            <a:solidFill>
              <a:srgbClr val="0057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24942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248716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+ jobs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235915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538728" y="2084832"/>
            <a:ext cx="2084832" cy="841248"/>
          </a:xfrm>
          <a:prstGeom prst="roundRect">
            <a:avLst>
              <a:gd name="adj" fmla="val 10870"/>
            </a:avLst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224942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48456" y="248716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Router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+ API routes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5000" y="235915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327648" y="2084832"/>
            <a:ext cx="2084832" cy="841248"/>
          </a:xfrm>
          <a:prstGeom prst="roundRect">
            <a:avLst>
              <a:gd name="adj" fmla="val 10870"/>
            </a:avLst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24942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37376" y="248716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0" y="2359152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16568" y="2084832"/>
            <a:ext cx="2084832" cy="841248"/>
          </a:xfrm>
          <a:prstGeom prst="roundRect">
            <a:avLst>
              <a:gd name="adj" fmla="val 10870"/>
            </a:avLst>
          </a:prstGeom>
          <a:solidFill>
            <a:srgbClr val="0057A8"/>
          </a:solidFill>
          <a:ln w="12700">
            <a:solidFill>
              <a:srgbClr val="0057A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26296" y="224942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26296" y="248716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career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" y="34015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PIPELINE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9808" y="3703320"/>
            <a:ext cx="208483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3913632"/>
            <a:ext cx="310896" cy="310896"/>
          </a:xfrm>
          <a:prstGeom prst="ellipse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84048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71600" y="409651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unpdf + mammoth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text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26080" y="399592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3538728" y="3703320"/>
            <a:ext cx="208483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3320" y="3913632"/>
            <a:ext cx="310896" cy="310896"/>
          </a:xfrm>
          <a:prstGeom prst="ellipse">
            <a:avLst/>
          </a:prstGeom>
          <a:solidFill>
            <a:srgbClr val="0057A8"/>
          </a:solidFill>
          <a:ln w="12700">
            <a:solidFill>
              <a:srgbClr val="0057A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384048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60520" y="409651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skills, roles,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715000" y="399592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6327648" y="3703320"/>
            <a:ext cx="208483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3913632"/>
            <a:ext cx="310896" cy="310896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384048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49440" y="409651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% +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skills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503920" y="399592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9116568" y="3703320"/>
            <a:ext cx="208483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81160" y="3913632"/>
            <a:ext cx="310896" cy="310896"/>
          </a:xfrm>
          <a:prstGeom prst="ellipse">
            <a:avLst/>
          </a:prstGeom>
          <a:solidFill>
            <a:srgbClr val="163456"/>
          </a:solidFill>
          <a:ln w="12700">
            <a:solidFill>
              <a:srgbClr val="16345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38360" y="384048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738360" y="409651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best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9808" y="50109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OUTPUT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23160" y="489204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0057A8"/>
          </a:solidFill>
          <a:ln w="12700">
            <a:solidFill>
              <a:srgbClr val="0057A8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96312" y="5038344"/>
            <a:ext cx="1591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489204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5038344"/>
            <a:ext cx="1591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SKILLS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03720" y="489204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76872" y="5038344"/>
            <a:ext cx="1591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SKILLS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44000" y="489204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163456"/>
          </a:solidFill>
          <a:ln w="12700">
            <a:solidFill>
              <a:srgbClr val="16345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17152" y="5038344"/>
            <a:ext cx="1591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IMPROVING SKILLS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828800" y="574243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16  •  React 19  •  TypeScript  •  Tailwind CSS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FEASIBILITY + 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to scale, built to learn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production-ready stack becomes valuable when risks are controlled and outcomes are measurable.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938528"/>
            <a:ext cx="2971800" cy="960120"/>
          </a:xfrm>
          <a:prstGeom prst="roundRect">
            <a:avLst>
              <a:gd name="adj" fmla="val 11429"/>
            </a:avLst>
          </a:prstGeom>
          <a:solidFill>
            <a:srgbClr val="0057A8"/>
          </a:solidFill>
          <a:ln w="12700">
            <a:solidFill>
              <a:srgbClr val="0057A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1214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24231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+ Supabase + OpenAI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95344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0" y="1938528"/>
            <a:ext cx="2971800" cy="960120"/>
          </a:xfrm>
          <a:prstGeom prst="roundRect">
            <a:avLst>
              <a:gd name="adj" fmla="val 11429"/>
            </a:avLst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21214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24231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RLS + validation + rate limits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44384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321040" y="1938528"/>
            <a:ext cx="2971800" cy="960120"/>
          </a:xfrm>
          <a:prstGeom prst="roundRect">
            <a:avLst>
              <a:gd name="adj" fmla="val 11429"/>
            </a:avLst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21214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77072" y="24231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guidance + better decisions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4015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→ MITIGATION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370332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" y="3867912"/>
            <a:ext cx="256032" cy="256032"/>
          </a:xfrm>
          <a:prstGeom prst="ellipse">
            <a:avLst/>
          </a:prstGeom>
          <a:solidFill>
            <a:srgbClr val="0057A8"/>
          </a:solidFill>
          <a:ln w="12700">
            <a:solidFill>
              <a:srgbClr val="0057A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9888" y="382219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jobs API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89888" y="405079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live job-board API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11880" y="370332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76472" y="3867912"/>
            <a:ext cx="256032" cy="256032"/>
          </a:xfrm>
          <a:prstGeom prst="ellipse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78808" y="382219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uploads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78808" y="405079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Malware scan + file limits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370332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65392" y="3867912"/>
            <a:ext cx="256032" cy="256032"/>
          </a:xfrm>
          <a:prstGeom prst="ellipse">
            <a:avLst/>
          </a:prstGeom>
          <a:solidFill>
            <a:srgbClr val="D8433E"/>
          </a:solidFill>
          <a:ln w="12700">
            <a:solidFill>
              <a:srgbClr val="D8433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382219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Untrusted 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67728" y="405079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validation + tests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89720" y="370332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54312" y="3867912"/>
            <a:ext cx="256032" cy="256032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56648" y="382219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exposure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56648" y="405079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RLS policies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MEASURABLE BENEFITS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80360" y="4681728"/>
            <a:ext cx="2423160" cy="566928"/>
          </a:xfrm>
          <a:prstGeom prst="roundRect">
            <a:avLst>
              <a:gd name="adj" fmla="val 19355"/>
            </a:avLst>
          </a:prstGeom>
          <a:solidFill>
            <a:srgbClr val="0057A8"/>
          </a:solidFill>
          <a:ln w="12700">
            <a:solidFill>
              <a:srgbClr val="0057A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0088" y="479145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90088" y="501091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multilingual guidance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60720" y="4681728"/>
            <a:ext cx="2423160" cy="566928"/>
          </a:xfrm>
          <a:prstGeom prst="roundRect">
            <a:avLst>
              <a:gd name="adj" fmla="val 19355"/>
            </a:avLst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70448" y="479145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70448" y="501091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upskilling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641080" y="4681728"/>
            <a:ext cx="2423160" cy="566928"/>
          </a:xfrm>
          <a:prstGeom prst="roundRect">
            <a:avLst>
              <a:gd name="adj" fmla="val 19355"/>
            </a:avLst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50808" y="479145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750808" y="501091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evidence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554480" y="57150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risk → trusted insight → measurable employment movement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RESEARCH + 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tools. Connected with purpose.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technology choice moves through a visible path from trusted documentation to a working student outcome.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325880" y="2816352"/>
            <a:ext cx="9555480" cy="0"/>
          </a:xfrm>
          <a:prstGeom prst="line">
            <a:avLst/>
          </a:prstGeom>
          <a:noFill/>
          <a:ln w="25400">
            <a:solidFill>
              <a:srgbClr val="D6DCE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41248" y="2359152"/>
            <a:ext cx="804672" cy="804672"/>
          </a:xfrm>
          <a:prstGeom prst="ellipse">
            <a:avLst/>
          </a:prstGeom>
          <a:solidFill>
            <a:srgbClr val="0057A8"/>
          </a:solidFill>
          <a:ln w="12700">
            <a:solidFill>
              <a:srgbClr val="0057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6334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34015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3730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docs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docs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2633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30168" y="2359152"/>
            <a:ext cx="804672" cy="804672"/>
          </a:xfrm>
          <a:prstGeom prst="ellipse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26334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34015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55848" y="3730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TypeScript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57800" y="2633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19088" y="2359152"/>
            <a:ext cx="804672" cy="804672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6334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34015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44768" y="3730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unpdf + mammoth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2633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08008" y="2359152"/>
            <a:ext cx="804672" cy="804672"/>
          </a:xfrm>
          <a:prstGeom prst="ellipse">
            <a:avLst/>
          </a:prstGeom>
          <a:solidFill>
            <a:srgbClr val="163456"/>
          </a:solidFill>
          <a:ln w="12700">
            <a:solidFill>
              <a:srgbClr val="16345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08008" y="26334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33688" y="34015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33688" y="3730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Vercel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deploy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4736592"/>
            <a:ext cx="10378440" cy="731520"/>
          </a:xfrm>
          <a:prstGeom prst="roundRect">
            <a:avLst>
              <a:gd name="adj" fmla="val 15000"/>
            </a:avLst>
          </a:prstGeom>
          <a:solidFill>
            <a:srgbClr val="163456"/>
          </a:solidFill>
          <a:ln w="12700">
            <a:solidFill>
              <a:srgbClr val="16345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49286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9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EVIDENCE-BACKED BUILD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20440" y="4882896"/>
            <a:ext cx="7269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-&gt; implementation -&gt; validation -&gt; impact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574243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nextjs.org/docs  |  supabase.com/docs  |  platform.openai.com/docs  |  vercel.com/docs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ROADMAP TO PRODUCTION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working prototype to trusted rollout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65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release gate reduces risk before SkillTrack reaches real learners.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51560" y="2761488"/>
            <a:ext cx="9921240" cy="0"/>
          </a:xfrm>
          <a:prstGeom prst="line">
            <a:avLst/>
          </a:prstGeom>
          <a:noFill/>
          <a:ln w="25400">
            <a:solidFill>
              <a:srgbClr val="D6DCE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271016" y="2377440"/>
            <a:ext cx="768096" cy="768096"/>
          </a:xfrm>
          <a:prstGeom prst="ellipse">
            <a:avLst/>
          </a:prstGeom>
          <a:solidFill>
            <a:srgbClr val="0057A8"/>
          </a:solidFill>
          <a:ln w="12700">
            <a:solidFill>
              <a:srgbClr val="0057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1016" y="263347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62456" y="2898648"/>
            <a:ext cx="585216" cy="310896"/>
          </a:xfrm>
          <a:prstGeom prst="roundRect">
            <a:avLst>
              <a:gd name="adj" fmla="val 11765"/>
            </a:avLst>
          </a:prstGeom>
          <a:solidFill>
            <a:srgbClr val="0057A8"/>
          </a:solidFill>
          <a:ln w="12700">
            <a:solidFill>
              <a:srgbClr val="0057A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971800"/>
            <a:ext cx="38404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463040" y="3054096"/>
            <a:ext cx="2743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658368" y="33832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71246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journey live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401421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+ Supabase + OpenAI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26517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75304" y="2377440"/>
            <a:ext cx="768096" cy="768096"/>
          </a:xfrm>
          <a:prstGeom prst="ellipse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5304" y="263347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94760" y="2898648"/>
            <a:ext cx="329184" cy="329184"/>
          </a:xfrm>
          <a:prstGeom prst="ellipse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77056" y="3063240"/>
            <a:ext cx="73152" cy="7315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3950208" y="3136392"/>
            <a:ext cx="128016" cy="-19202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2962656" y="33832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62656" y="371246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people + data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401421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RLS + server-only key + upload limits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0328" y="26517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79592" y="2377440"/>
            <a:ext cx="768096" cy="768096"/>
          </a:xfrm>
          <a:prstGeom prst="ellipse">
            <a:avLst/>
          </a:prstGeom>
          <a:solidFill>
            <a:srgbClr val="D8433E"/>
          </a:solidFill>
          <a:ln w="12700">
            <a:solidFill>
              <a:srgbClr val="D8433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9592" y="263347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99048" y="2898648"/>
            <a:ext cx="329184" cy="329184"/>
          </a:xfrm>
          <a:prstGeom prst="ellipse">
            <a:avLst/>
          </a:prstGeom>
          <a:solidFill>
            <a:srgbClr val="D8433E"/>
          </a:solidFill>
          <a:ln w="12700">
            <a:solidFill>
              <a:srgbClr val="D8433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9048" y="299008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266944" y="33832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66944" y="371246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43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every decision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30368" y="401421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checks + scoring + failure tests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14616" y="26517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83880" y="2377440"/>
            <a:ext cx="768096" cy="768096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3880" y="263347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21040" y="2926080"/>
            <a:ext cx="164592" cy="164592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68512" y="2926080"/>
            <a:ext cx="164592" cy="164592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94776" y="3090672"/>
            <a:ext cx="164592" cy="164592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58200" y="2999232"/>
            <a:ext cx="73152" cy="91440"/>
          </a:xfrm>
          <a:prstGeom prst="line">
            <a:avLst/>
          </a:prstGeom>
          <a:noFill/>
          <a:ln w="12700">
            <a:solidFill>
              <a:srgbClr val="138A4B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8695944" y="2999232"/>
            <a:ext cx="-100584" cy="91440"/>
          </a:xfrm>
          <a:prstGeom prst="line">
            <a:avLst/>
          </a:prstGeom>
          <a:noFill/>
          <a:ln w="12700">
            <a:solidFill>
              <a:srgbClr val="138A4B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7571232" y="33832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71232" y="371246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with real users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34656" y="401421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cohort + feedback + monitoring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518904" y="26517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8A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488168" y="2377440"/>
            <a:ext cx="768096" cy="768096"/>
          </a:xfrm>
          <a:prstGeom prst="ellipse">
            <a:avLst/>
          </a:prstGeom>
          <a:solidFill>
            <a:srgbClr val="163456"/>
          </a:solidFill>
          <a:ln w="12700">
            <a:solidFill>
              <a:srgbClr val="16345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88168" y="263347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643616" y="3072384"/>
            <a:ext cx="109728" cy="146304"/>
          </a:xfrm>
          <a:prstGeom prst="roundRect">
            <a:avLst/>
          </a:prstGeom>
          <a:solidFill>
            <a:srgbClr val="163456"/>
          </a:solidFill>
          <a:ln w="12700">
            <a:solidFill>
              <a:srgbClr val="16345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08208" y="2990088"/>
            <a:ext cx="109728" cy="228600"/>
          </a:xfrm>
          <a:prstGeom prst="roundRect">
            <a:avLst/>
          </a:prstGeom>
          <a:solidFill>
            <a:srgbClr val="163456"/>
          </a:solidFill>
          <a:ln w="12700">
            <a:solidFill>
              <a:srgbClr val="163456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972800" y="2898648"/>
            <a:ext cx="109728" cy="320040"/>
          </a:xfrm>
          <a:prstGeom prst="roundRect">
            <a:avLst/>
          </a:prstGeom>
          <a:solidFill>
            <a:srgbClr val="163456"/>
          </a:solidFill>
          <a:ln w="12700">
            <a:solidFill>
              <a:srgbClr val="16345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75520" y="33832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875520" y="371246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with confidence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838944" y="401421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 API + institutions + deployment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22960" y="4892040"/>
            <a:ext cx="10561320" cy="685800"/>
          </a:xfrm>
          <a:prstGeom prst="roundRect">
            <a:avLst>
              <a:gd name="adj" fmla="val 16000"/>
            </a:avLst>
          </a:prstGeom>
          <a:solidFill>
            <a:srgbClr val="163456"/>
          </a:solidFill>
          <a:ln w="12700">
            <a:solidFill>
              <a:srgbClr val="163456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43000" y="50932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9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697480" y="5029200"/>
            <a:ext cx="8183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ship when ownership, safety, model output, and failure paths are tested.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828800" y="58064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-&gt; safeguards -&gt; evidence -&gt; users -&gt; scale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SIH Prototype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Prototype - Skills Gap and Employment Tracking Dashboard</dc:title>
  <dc:subject>Smart India Hackathon - Skills Gap and Employment Tracking Dashboard</dc:subject>
  <dc:creator>SIH Prototype Team</dc:creator>
  <cp:lastModifiedBy>SIH Prototype Team</cp:lastModifiedBy>
  <cp:revision>1</cp:revision>
  <dcterms:created xsi:type="dcterms:W3CDTF">2026-09-16T17:46:32Z</dcterms:created>
  <dcterms:modified xsi:type="dcterms:W3CDTF">2026-09-16T17:46:32Z</dcterms:modified>
</cp:coreProperties>
</file>