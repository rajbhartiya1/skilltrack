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4063594" cy="164592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3594" y="6693408"/>
            <a:ext cx="406450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102" y="6693408"/>
            <a:ext cx="4063594" cy="164592"/>
          </a:xfrm>
          <a:prstGeom prst="rect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556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SIH PROTOTYPE  /  SMART INDIA HACKATHON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63456"/>
          </a:solidFill>
          <a:ln w="12700">
            <a:solidFill>
              <a:srgbClr val="163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498080" y="-640080"/>
            <a:ext cx="5303520" cy="5303520"/>
          </a:xfrm>
          <a:prstGeom prst="arc">
            <a:avLst/>
          </a:prstGeom>
          <a:solidFill>
            <a:srgbClr val="163456">
              <a:alpha val="0"/>
            </a:srgbClr>
          </a:solidFill>
          <a:ln w="27940">
            <a:solidFill>
              <a:srgbClr val="138A4B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8503920" y="1188720"/>
            <a:ext cx="4023360" cy="4023360"/>
          </a:xfrm>
          <a:prstGeom prst="arc">
            <a:avLst/>
          </a:prstGeom>
          <a:solidFill>
            <a:srgbClr val="163456">
              <a:alpha val="0"/>
            </a:srgbClr>
          </a:solidFill>
          <a:ln w="19050">
            <a:solidFill>
              <a:srgbClr val="F47B20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2179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INDIA HACKATHON  /  SIH PROTOTYPE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gap &amp;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employment tracking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76656" y="38862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student-first solution for India's employability gap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617720"/>
            <a:ext cx="3383280" cy="274320"/>
          </a:xfrm>
          <a:prstGeom prst="roundRect">
            <a:avLst>
              <a:gd name="adj" fmla="val 50000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360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skills data into employment outcomes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549640" y="1874520"/>
            <a:ext cx="269748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96528" y="2121408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24544" y="246888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915400" y="28620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58400" y="2121408"/>
            <a:ext cx="932688" cy="237744"/>
          </a:xfrm>
          <a:prstGeom prst="roundRect">
            <a:avLst>
              <a:gd name="adj" fmla="val 30769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2487168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0" y="2852928"/>
            <a:ext cx="804672" cy="237744"/>
          </a:xfrm>
          <a:prstGeom prst="roundRect">
            <a:avLst>
              <a:gd name="adj" fmla="val 30769"/>
            </a:avLst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96528" y="3675888"/>
            <a:ext cx="2203704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549640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mapped  •  jobs matched  •  progress tracked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84280" y="6236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SIH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broken career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build skills, but the path from classroom learning to meaningful employment remains fragmented and opaque.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76272"/>
            <a:ext cx="411480" cy="4114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are invisible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collect certificates, but cannot see which skills employers actually value.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62272" y="192024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2176272"/>
            <a:ext cx="411480" cy="411480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18304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 are noisy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18304" y="318211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Listings speak in jargon. Candidates cannot tell whether they are close, ready, or wasting 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66176" y="192024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2208" y="2176272"/>
            <a:ext cx="411480" cy="41148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22208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unmeasured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22208" y="318211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Applications, interviews, and feedback live in separate tools with no learning loop.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OF DISCONNECTION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4736592"/>
            <a:ext cx="2514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736592"/>
            <a:ext cx="54864" cy="841248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855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9536" y="5221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likely to abandon a search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64992" y="4736592"/>
            <a:ext cx="2514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4736592"/>
            <a:ext cx="54864" cy="841248"/>
          </a:xfrm>
          <a:prstGeom prst="roundRect">
            <a:avLst/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855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66160" y="5221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applications lack feedback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71616" y="4736592"/>
            <a:ext cx="2514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4736592"/>
            <a:ext cx="54864" cy="841248"/>
          </a:xfrm>
          <a:prstGeom prst="roundRect">
            <a:avLst/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4855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→ 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72784" y="5221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decisions without evidence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823960" y="473659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9992" y="48828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is not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skill. It is signal.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SIH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digital bridge from skill to job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 converts scattered career signals into a single, actionable journey for students and institutions.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504688" y="2249424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04688" y="25237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33172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2560320"/>
            <a:ext cx="347472" cy="34747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2514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47088" y="2770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current skills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3000" y="425196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4480560"/>
            <a:ext cx="347472" cy="347472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4434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scan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47088" y="46908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what is missing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98280" y="233172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2560320"/>
            <a:ext cx="347472" cy="347472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514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02368" y="2770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real-fit jobs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425196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4480560"/>
            <a:ext cx="347472" cy="34747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2368" y="4434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02368" y="46908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outcomes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2743200"/>
            <a:ext cx="1938528" cy="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693408" y="2743200"/>
            <a:ext cx="2404872" cy="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566160" y="4663440"/>
            <a:ext cx="1938528" cy="-132588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693408" y="3337560"/>
            <a:ext cx="2404872" cy="1325880"/>
          </a:xfrm>
          <a:prstGeom prst="line">
            <a:avLst/>
          </a:prstGeom>
          <a:noFill/>
          <a:ln w="1905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2423160" y="5715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closed loop: every application improves the next decision.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INNOVATION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profile to placement in four moves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 is built around the next best action, not another disconnected portal.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25880" y="2788920"/>
            <a:ext cx="9509760" cy="0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4400" y="2596896"/>
            <a:ext cx="384048" cy="38404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Skills, projects, preferences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2596896"/>
            <a:ext cx="384048" cy="384048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against target roles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2596896"/>
            <a:ext cx="384048" cy="384048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the highest-value gap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18320" y="2596896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746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0815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9828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outcomes and recalibrate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4800600"/>
            <a:ext cx="10149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9834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promise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71800" y="49194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career move easier to see, easier to do, and easier to measure.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PROTOTYPE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built for decisions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number answers a student question: Am I ready? What should I improve? Where should I apply?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10881360" cy="4224528"/>
          </a:xfrm>
          <a:prstGeom prst="roundRect">
            <a:avLst>
              <a:gd name="adj" fmla="val 259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1874520" cy="4224528"/>
          </a:xfrm>
          <a:prstGeom prst="roundRect">
            <a:avLst>
              <a:gd name="adj" fmla="val 5854"/>
            </a:avLst>
          </a:prstGeom>
          <a:solidFill>
            <a:srgbClr val="10294A"/>
          </a:solidFill>
          <a:ln w="12700">
            <a:solidFill>
              <a:srgbClr val="10294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031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" y="2697480"/>
            <a:ext cx="1490472" cy="347472"/>
          </a:xfrm>
          <a:prstGeom prst="roundRect">
            <a:avLst>
              <a:gd name="adj" fmla="val 21053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8892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33192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gap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38496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matches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43799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5257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Jordan Lee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55046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design track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32888" y="1783080"/>
            <a:ext cx="9006840" cy="42245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2057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morning, Jordan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52928" y="2395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next best move is ready.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52928" y="2816352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52928" y="2816352"/>
            <a:ext cx="54864" cy="841248"/>
          </a:xfrm>
          <a:prstGeom prst="roundRect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4096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54096" y="33009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readiness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74920" y="2816352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816352"/>
            <a:ext cx="54864" cy="841248"/>
          </a:xfrm>
          <a:prstGeom prst="roundRect">
            <a:avLst/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76088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76088" y="33009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roles mapped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96912" y="2816352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2816352"/>
            <a:ext cx="54864" cy="841248"/>
          </a:xfrm>
          <a:prstGeom prst="roundRect">
            <a:avLst/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98080" y="33009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in motion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18904" y="2816352"/>
            <a:ext cx="1645920" cy="841248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83496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52928" y="3977640"/>
            <a:ext cx="397764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4224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by skill cluster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90672" y="45720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sense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51960" y="4608576"/>
            <a:ext cx="205740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4608576"/>
            <a:ext cx="1769364" cy="100584"/>
          </a:xfrm>
          <a:prstGeom prst="roundRect">
            <a:avLst>
              <a:gd name="adj" fmla="val 45455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0672" y="480974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51960" y="4846320"/>
            <a:ext cx="205740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51960" y="4846320"/>
            <a:ext cx="1296162" cy="100584"/>
          </a:xfrm>
          <a:prstGeom prst="roundRect">
            <a:avLst>
              <a:gd name="adj" fmla="val 45455"/>
            </a:avLst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0672" y="50474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51960" y="5084064"/>
            <a:ext cx="205740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5084064"/>
            <a:ext cx="1604772" cy="100584"/>
          </a:xfrm>
          <a:prstGeom prst="roundRect">
            <a:avLst>
              <a:gd name="adj" fmla="val 45455"/>
            </a:avLst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59168" y="3977640"/>
            <a:ext cx="4105656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224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 action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96912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analytics case study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96912" y="48646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 the largest gap for 3 target roles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96912" y="510235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5120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PLAN  →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CORE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vague gap into a focused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gap analysis becomes useful when it ends with a personalized and measurable action plan.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4617720" cy="3977640"/>
          </a:xfrm>
          <a:prstGeom prst="roundRect">
            <a:avLst>
              <a:gd name="adj" fmla="val 3218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7627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ROLE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" y="2450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analyst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31546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3383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87552" y="4069080"/>
            <a:ext cx="3639312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4069080"/>
            <a:ext cx="2620305" cy="100584"/>
          </a:xfrm>
          <a:prstGeom prst="roundRect">
            <a:avLst>
              <a:gd name="adj" fmla="val 45455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434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skills mapped  •  3 priority 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7552" y="4992624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50109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MY PLAN  →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2084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GAP MAP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24871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7157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953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impact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21040" y="2587752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587752"/>
            <a:ext cx="666140" cy="100584"/>
          </a:xfrm>
          <a:prstGeom prst="roundRect">
            <a:avLst>
              <a:gd name="adj" fmla="val 45455"/>
            </a:avLst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25328" y="250545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DE9E7"/>
          </a:solidFill>
          <a:ln w="12700">
            <a:solidFill>
              <a:srgbClr val="FDE9E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25328" y="2523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53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NEXT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316382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3924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21040" y="3264408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264408"/>
            <a:ext cx="1181862" cy="100584"/>
          </a:xfrm>
          <a:prstGeom prst="roundRect">
            <a:avLst>
              <a:gd name="adj" fmla="val 45455"/>
            </a:avLst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25328" y="3182112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0E5"/>
          </a:solidFill>
          <a:ln w="12700">
            <a:solidFill>
              <a:srgbClr val="FFF0E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25328" y="32004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97880" y="38404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storytelling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40690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321040" y="3941064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941064"/>
            <a:ext cx="1676095" cy="100584"/>
          </a:xfrm>
          <a:prstGeom prst="roundRect">
            <a:avLst>
              <a:gd name="adj" fmla="val 45455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25328" y="385876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25328" y="38770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451713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sense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474573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321040" y="4617720"/>
            <a:ext cx="2148840" cy="100584"/>
          </a:xfrm>
          <a:prstGeom prst="roundRect">
            <a:avLst>
              <a:gd name="adj" fmla="val 45455"/>
            </a:avLst>
          </a:prstGeom>
          <a:solidFill>
            <a:srgbClr val="E7EDF4"/>
          </a:solidFill>
          <a:ln w="12700">
            <a:solidFill>
              <a:srgbClr val="E7EDF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617720"/>
            <a:ext cx="1955444" cy="100584"/>
          </a:xfrm>
          <a:prstGeom prst="roundRect">
            <a:avLst>
              <a:gd name="adj" fmla="val 45455"/>
            </a:avLst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25328" y="453542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25328" y="45537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97880" y="5422392"/>
            <a:ext cx="530352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5897880" y="55961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95160" y="5559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gap is a prioritization problem before it is a learning problem.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IMPACT TRACKING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the loop with employment tracking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pipeline makes student progress visible and gives institutions feedback they can act 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Wishlist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/ Analyst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327355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3832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Miro / APM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382219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93192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/ PM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to update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0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39312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/ Product analyst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39312" y="327355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33832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Lumen / UX researcher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39312" y="382219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393192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/ Growth analyst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0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to update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91072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FFF0E5"/>
          </a:solidFill>
          <a:ln w="12700">
            <a:solidFill>
              <a:srgbClr val="FFF0E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01584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55664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/ Round 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55664" y="327355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3832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/ Hiring manager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55664" y="382219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93192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Lumen / Case study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73952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to update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07424" y="1938528"/>
            <a:ext cx="2487168" cy="318211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07424" y="1938528"/>
            <a:ext cx="2487168" cy="502920"/>
          </a:xfrm>
          <a:prstGeom prst="roundRect">
            <a:avLst>
              <a:gd name="adj" fmla="val 18182"/>
            </a:avLst>
          </a:prstGeom>
          <a:solidFill>
            <a:srgbClr val="E3F3EA"/>
          </a:solidFill>
          <a:ln w="12700">
            <a:solidFill>
              <a:srgbClr val="E3F3E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08592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17936" y="2029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9272016" y="2724912"/>
            <a:ext cx="2157984" cy="393192"/>
          </a:xfrm>
          <a:prstGeom prst="roundRect">
            <a:avLst>
              <a:gd name="adj" fmla="val 16279"/>
            </a:avLst>
          </a:prstGeom>
          <a:solidFill>
            <a:srgbClr val="E3F3EA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0032" y="2834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/ Product analyst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290304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recorded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43000" y="565099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status change becomes a learning signal: which skills correlate with movement?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FEASIBILITY AND SCALE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measurable movement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is modular, data-ready, and designed to scale from one campus to a national employability layer.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48840"/>
            <a:ext cx="54864" cy="841248"/>
          </a:xfrm>
          <a:prstGeom prst="roundRect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relevant applications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10128" y="21488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2148840"/>
            <a:ext cx="54864" cy="841248"/>
          </a:xfrm>
          <a:prstGeom prst="roundRect">
            <a:avLst/>
          </a:prstGeom>
          <a:solidFill>
            <a:srgbClr val="2D5BE3"/>
          </a:solidFill>
          <a:ln w="12700">
            <a:solidFill>
              <a:srgbClr val="2D5BE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11296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spent searching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61888" y="21488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2148840"/>
            <a:ext cx="54864" cy="841248"/>
          </a:xfrm>
          <a:prstGeom prst="roundRect">
            <a:avLst/>
          </a:prstGeom>
          <a:solidFill>
            <a:srgbClr val="F47B20"/>
          </a:solidFill>
          <a:ln w="12700">
            <a:solidFill>
              <a:srgbClr val="F47B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63056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feedback loops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13648" y="2148840"/>
            <a:ext cx="2907792" cy="841248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22860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over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" y="3566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393192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178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6968" y="4462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" y="4782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Profile, skill gap, job matching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07408" y="393192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4178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36008" y="4462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signals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36008" y="4782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demand trends, feedback loops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56448" y="393192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5048" y="4178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85048" y="4462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 layer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85048" y="4782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Institutions, employers, mentors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SIH 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4944" y="132588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career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visible.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1272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5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 connects students, institutions, and employers so every learner can see the next move and every intervention can be measured.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4206240"/>
            <a:ext cx="155448" cy="155448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183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6696" y="4187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is 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4590288"/>
            <a:ext cx="155448" cy="155448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5674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6696" y="45720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user loop is mapped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4974336"/>
            <a:ext cx="155448" cy="155448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9514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96696" y="4956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test with real learners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1325880"/>
            <a:ext cx="342900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7556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77072" y="2651760"/>
            <a:ext cx="1371600" cy="137160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3017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577072" y="3410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01000" y="4160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clear 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beats ten open tabs.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/  JAI HIND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599846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EA7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SIH Prototype  •  Skills Gap &amp; Employment Tracking Dashboard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SIH Prototype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Prototype - Skills Gap and Employment Tracking Dashboard</dc:title>
  <dc:subject>Smart India Hackathon - Skills Gap and Employment Tracking Dashboard</dc:subject>
  <dc:creator>SIH Prototype Team</dc:creator>
  <cp:lastModifiedBy>SIH Prototype Team</cp:lastModifiedBy>
  <cp:revision>1</cp:revision>
  <dcterms:created xsi:type="dcterms:W3CDTF">2026-09-16T09:32:03Z</dcterms:created>
  <dcterms:modified xsi:type="dcterms:W3CDTF">2026-09-16T09:32:03Z</dcterms:modified>
</cp:coreProperties>
</file>